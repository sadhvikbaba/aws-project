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Arimo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26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49626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Medical Research Papers are Long and Hard to Read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96728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B.Tech Final Year Project — Department of Computer Science &amp; Engineering</a:t>
            </a:r>
            <a:endParaRPr lang="en-US" sz="18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513707-0DBF-4CF1-A1B7-ECACAE172D3A}"/>
              </a:ext>
            </a:extLst>
          </p:cNvPr>
          <p:cNvSpPr/>
          <p:nvPr/>
        </p:nvSpPr>
        <p:spPr>
          <a:xfrm>
            <a:off x="12835054" y="7761249"/>
            <a:ext cx="1717287" cy="390292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68" y="803077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Problem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733068" y="1693783"/>
            <a:ext cx="7677864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Medical research papers are dense, lengthy, and difficult to navigate — creating a significant barrier for practitioners, students, and researchers who need quick, actionable insights.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3068" y="2842141"/>
            <a:ext cx="7677864" cy="1510665"/>
          </a:xfrm>
          <a:prstGeom prst="roundRect">
            <a:avLst>
              <a:gd name="adj" fmla="val 7264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0208" y="2842141"/>
            <a:ext cx="91440" cy="1510665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7" name="Text 4"/>
          <p:cNvSpPr/>
          <p:nvPr/>
        </p:nvSpPr>
        <p:spPr>
          <a:xfrm>
            <a:off x="1033939" y="3074432"/>
            <a:ext cx="282559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Length &amp; Complexity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33939" y="3492341"/>
            <a:ext cx="7144703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Papers span dozens of pages with technical jargon, making them hard to digest quickly.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3068" y="4536043"/>
            <a:ext cx="7677864" cy="1196578"/>
          </a:xfrm>
          <a:prstGeom prst="roundRect">
            <a:avLst>
              <a:gd name="adj" fmla="val 9170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0208" y="4536043"/>
            <a:ext cx="91440" cy="1196578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11" name="Text 8"/>
          <p:cNvSpPr/>
          <p:nvPr/>
        </p:nvSpPr>
        <p:spPr>
          <a:xfrm>
            <a:off x="1033939" y="476833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Time-Consuming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33939" y="5186243"/>
            <a:ext cx="714470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Extracting key findings manually takes hours, slowing down decision-making.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3068" y="5915858"/>
            <a:ext cx="7677864" cy="1510665"/>
          </a:xfrm>
          <a:prstGeom prst="roundRect">
            <a:avLst>
              <a:gd name="adj" fmla="val 7264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0208" y="5915858"/>
            <a:ext cx="91440" cy="1510665"/>
          </a:xfrm>
          <a:prstGeom prst="roundRect">
            <a:avLst>
              <a:gd name="adj" fmla="val 34360"/>
            </a:avLst>
          </a:prstGeom>
          <a:solidFill>
            <a:srgbClr val="8061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33939" y="6148149"/>
            <a:ext cx="290714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Information Overload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033939" y="6566059"/>
            <a:ext cx="7144703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Critical insights are buried in dense text, making it hard to locate what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6877"/>
            <a:ext cx="565654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909643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system addresses the core challenges of reading medical research by combining automated summarization with an interactive Q&amp;A interface.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2944892"/>
            <a:ext cx="478750" cy="47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372284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Quick Summaries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4218384"/>
            <a:ext cx="63278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 concise, structured summaries of uploaded research papers automatically.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743" y="2944892"/>
            <a:ext cx="478750" cy="478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64743" y="372284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Interactive Q&amp;A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64743" y="4218384"/>
            <a:ext cx="63279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Allow users to ask natural-language questions and receive precise answers from the paper.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724" y="5463183"/>
            <a:ext cx="478750" cy="478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7724" y="6241137"/>
            <a:ext cx="341733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Reduce Reading Time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37724" y="6736675"/>
            <a:ext cx="63278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Cut down the time required to understand a paper from hours to minutes.</a:t>
            </a:r>
            <a:endParaRPr lang="en-US" sz="1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743" y="5463183"/>
            <a:ext cx="478750" cy="478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64743" y="6241137"/>
            <a:ext cx="382905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Improve Comprehension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64743" y="6736675"/>
            <a:ext cx="63279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Present complex findings in plain, accessible language for broader audiences.</a:t>
            </a:r>
            <a:endParaRPr lang="en-US" sz="18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6675D8-04A3-2074-029B-1804DE39D631}"/>
              </a:ext>
            </a:extLst>
          </p:cNvPr>
          <p:cNvSpPr/>
          <p:nvPr/>
        </p:nvSpPr>
        <p:spPr>
          <a:xfrm>
            <a:off x="12835054" y="7761249"/>
            <a:ext cx="1717287" cy="390292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1318" y="458629"/>
            <a:ext cx="3872270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Overall Solution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318" y="1239560"/>
            <a:ext cx="6806446" cy="408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86863" y="2837378"/>
            <a:ext cx="3479602" cy="88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system provides a seamless four-step workflow that transforms a lengthy research paper into an interactive, easy-to-understand experience.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971318" y="5577959"/>
            <a:ext cx="329089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971318" y="5834658"/>
            <a:ext cx="5287208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7" name="Text 4"/>
          <p:cNvSpPr/>
          <p:nvPr/>
        </p:nvSpPr>
        <p:spPr>
          <a:xfrm>
            <a:off x="1971318" y="5962650"/>
            <a:ext cx="1936075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Upload Paper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71318" y="6272451"/>
            <a:ext cx="528720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submits a medical research paper through a simple web interface.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71636" y="5577959"/>
            <a:ext cx="329089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71636" y="5834658"/>
            <a:ext cx="5287328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1" name="Text 8"/>
          <p:cNvSpPr/>
          <p:nvPr/>
        </p:nvSpPr>
        <p:spPr>
          <a:xfrm>
            <a:off x="7371636" y="5962650"/>
            <a:ext cx="1936075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Process Content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71636" y="6272451"/>
            <a:ext cx="52873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Backend parses and analyzes the document using NLP techniques.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971318" y="6730960"/>
            <a:ext cx="329089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971318" y="6987659"/>
            <a:ext cx="5287208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5" name="Text 12"/>
          <p:cNvSpPr/>
          <p:nvPr/>
        </p:nvSpPr>
        <p:spPr>
          <a:xfrm>
            <a:off x="1971318" y="7115651"/>
            <a:ext cx="2096810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Generate Summary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971318" y="7425452"/>
            <a:ext cx="528720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structured, concise summary is produced automatically.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371636" y="6730960"/>
            <a:ext cx="329089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71636" y="6987659"/>
            <a:ext cx="5287328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9" name="Text 16"/>
          <p:cNvSpPr/>
          <p:nvPr/>
        </p:nvSpPr>
        <p:spPr>
          <a:xfrm>
            <a:off x="7371636" y="7115651"/>
            <a:ext cx="1936075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Answer Questions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71636" y="7425452"/>
            <a:ext cx="52873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Users query the paper and receive instant, context-aware responses.</a:t>
            </a:r>
            <a:endParaRPr lang="en-US" sz="12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9E4F21-0E9D-6B6A-9C1C-922544E6A277}"/>
              </a:ext>
            </a:extLst>
          </p:cNvPr>
          <p:cNvSpPr/>
          <p:nvPr/>
        </p:nvSpPr>
        <p:spPr>
          <a:xfrm>
            <a:off x="12835054" y="7761249"/>
            <a:ext cx="1717287" cy="390292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2655" y="532686"/>
            <a:ext cx="4924663" cy="550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Architecture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42655" y="1374934"/>
            <a:ext cx="1214497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application follows a cloud-native architecture on AWS, ensuring scalability, fault tolerance, and high availability for concurrent users.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662" y="1805702"/>
            <a:ext cx="12044839" cy="51939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84" y="6024768"/>
            <a:ext cx="2571635" cy="321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S3 &amp; RDS Storage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103184" y="4822445"/>
            <a:ext cx="2861020" cy="321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EC2 Backend Server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103184" y="3632267"/>
            <a:ext cx="3741130" cy="321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Application Load Balancer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03184" y="2429944"/>
            <a:ext cx="2571635" cy="321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Interface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242655" y="7163991"/>
            <a:ext cx="12144970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Requests are routed through the Application Load Balancer to auto-scaled EC2 instances. Documents are stored in S3, metadata in RDS, and responses are returned to the user in real time.</a:t>
            </a:r>
            <a:endParaRPr lang="en-US" sz="1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B37B46-6A6F-BD10-57C1-BCFF92BD8D9A}"/>
              </a:ext>
            </a:extLst>
          </p:cNvPr>
          <p:cNvSpPr/>
          <p:nvPr/>
        </p:nvSpPr>
        <p:spPr>
          <a:xfrm>
            <a:off x="12835054" y="7761249"/>
            <a:ext cx="1717287" cy="390292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4099" y="594598"/>
            <a:ext cx="4594146" cy="53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AWS Services Used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364099" y="1414224"/>
            <a:ext cx="11902083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project leverages a suite of AWS services to deliver a robust, scalable, and secure cloud infrastructure.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64099" y="1830705"/>
            <a:ext cx="5880854" cy="1668780"/>
          </a:xfrm>
          <a:prstGeom prst="roundRect">
            <a:avLst>
              <a:gd name="adj" fmla="val 1647"/>
            </a:avLst>
          </a:prstGeom>
          <a:solidFill>
            <a:srgbClr val="2B2952"/>
          </a:solidFill>
          <a:ln/>
        </p:spPr>
      </p:sp>
      <p:sp>
        <p:nvSpPr>
          <p:cNvPr id="5" name="Shape 3"/>
          <p:cNvSpPr/>
          <p:nvPr/>
        </p:nvSpPr>
        <p:spPr>
          <a:xfrm>
            <a:off x="1547336" y="2013942"/>
            <a:ext cx="549712" cy="549712"/>
          </a:xfrm>
          <a:prstGeom prst="roundRect">
            <a:avLst>
              <a:gd name="adj" fmla="val 16632501"/>
            </a:avLst>
          </a:prstGeom>
          <a:solidFill>
            <a:srgbClr val="8061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8427" y="2165033"/>
            <a:ext cx="247412" cy="2474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47336" y="2703909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EC2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547336" y="3057525"/>
            <a:ext cx="5514380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Hosts the backend application server and processing logic.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85209" y="1830705"/>
            <a:ext cx="5880973" cy="1668780"/>
          </a:xfrm>
          <a:prstGeom prst="roundRect">
            <a:avLst>
              <a:gd name="adj" fmla="val 1647"/>
            </a:avLst>
          </a:prstGeom>
          <a:solidFill>
            <a:srgbClr val="2B2952"/>
          </a:solidFill>
          <a:ln/>
        </p:spPr>
      </p:sp>
      <p:sp>
        <p:nvSpPr>
          <p:cNvPr id="10" name="Shape 7"/>
          <p:cNvSpPr/>
          <p:nvPr/>
        </p:nvSpPr>
        <p:spPr>
          <a:xfrm>
            <a:off x="7568446" y="2013942"/>
            <a:ext cx="549712" cy="549712"/>
          </a:xfrm>
          <a:prstGeom prst="roundRect">
            <a:avLst>
              <a:gd name="adj" fmla="val 16632501"/>
            </a:avLst>
          </a:prstGeom>
          <a:solidFill>
            <a:srgbClr val="8061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9536" y="2165033"/>
            <a:ext cx="247412" cy="2474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68446" y="2703909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S3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568446" y="3057525"/>
            <a:ext cx="5514499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Stores uploaded research papers and generated outputs securely.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364099" y="3639741"/>
            <a:ext cx="5880854" cy="1927503"/>
          </a:xfrm>
          <a:prstGeom prst="roundRect">
            <a:avLst>
              <a:gd name="adj" fmla="val 1426"/>
            </a:avLst>
          </a:prstGeom>
          <a:solidFill>
            <a:srgbClr val="2B2952"/>
          </a:solidFill>
          <a:ln/>
        </p:spPr>
      </p:sp>
      <p:sp>
        <p:nvSpPr>
          <p:cNvPr id="15" name="Shape 11"/>
          <p:cNvSpPr/>
          <p:nvPr/>
        </p:nvSpPr>
        <p:spPr>
          <a:xfrm>
            <a:off x="1547336" y="3822978"/>
            <a:ext cx="549712" cy="549712"/>
          </a:xfrm>
          <a:prstGeom prst="roundRect">
            <a:avLst>
              <a:gd name="adj" fmla="val 16632501"/>
            </a:avLst>
          </a:prstGeom>
          <a:solidFill>
            <a:srgbClr val="8061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8427" y="3974068"/>
            <a:ext cx="247412" cy="2474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47336" y="4512945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RDS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547336" y="4866561"/>
            <a:ext cx="5514380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Manages structured data including summaries and user sessions.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385209" y="3639741"/>
            <a:ext cx="5880973" cy="1927503"/>
          </a:xfrm>
          <a:prstGeom prst="roundRect">
            <a:avLst>
              <a:gd name="adj" fmla="val 1426"/>
            </a:avLst>
          </a:prstGeom>
          <a:solidFill>
            <a:srgbClr val="2B2952"/>
          </a:solidFill>
          <a:ln/>
        </p:spPr>
      </p:sp>
      <p:sp>
        <p:nvSpPr>
          <p:cNvPr id="20" name="Shape 15"/>
          <p:cNvSpPr/>
          <p:nvPr/>
        </p:nvSpPr>
        <p:spPr>
          <a:xfrm>
            <a:off x="7568446" y="3822978"/>
            <a:ext cx="549712" cy="549712"/>
          </a:xfrm>
          <a:prstGeom prst="roundRect">
            <a:avLst>
              <a:gd name="adj" fmla="val 16632501"/>
            </a:avLst>
          </a:prstGeom>
          <a:solidFill>
            <a:srgbClr val="8061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9536" y="3974068"/>
            <a:ext cx="247412" cy="2474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68446" y="4512945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ALB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568446" y="4866561"/>
            <a:ext cx="5514499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Distributes incoming traffic across EC2 instances for high availability.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1364099" y="5707499"/>
            <a:ext cx="5880854" cy="1927503"/>
          </a:xfrm>
          <a:prstGeom prst="roundRect">
            <a:avLst>
              <a:gd name="adj" fmla="val 1426"/>
            </a:avLst>
          </a:prstGeom>
          <a:solidFill>
            <a:srgbClr val="2B2952"/>
          </a:solidFill>
          <a:ln/>
        </p:spPr>
      </p:sp>
      <p:sp>
        <p:nvSpPr>
          <p:cNvPr id="25" name="Shape 19"/>
          <p:cNvSpPr/>
          <p:nvPr/>
        </p:nvSpPr>
        <p:spPr>
          <a:xfrm>
            <a:off x="1547336" y="5890736"/>
            <a:ext cx="549712" cy="549712"/>
          </a:xfrm>
          <a:prstGeom prst="roundRect">
            <a:avLst>
              <a:gd name="adj" fmla="val 16632501"/>
            </a:avLst>
          </a:prstGeom>
          <a:solidFill>
            <a:srgbClr val="8061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8427" y="6041827"/>
            <a:ext cx="247412" cy="2474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47336" y="6580703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 Scaling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1547336" y="6934319"/>
            <a:ext cx="5514380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Dynamically adjusts compute capacity based on real-time demand.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7385209" y="5707499"/>
            <a:ext cx="5880973" cy="1927503"/>
          </a:xfrm>
          <a:prstGeom prst="roundRect">
            <a:avLst>
              <a:gd name="adj" fmla="val 1426"/>
            </a:avLst>
          </a:prstGeom>
          <a:solidFill>
            <a:srgbClr val="2B2952"/>
          </a:solidFill>
          <a:ln/>
        </p:spPr>
      </p:sp>
      <p:sp>
        <p:nvSpPr>
          <p:cNvPr id="30" name="Shape 23"/>
          <p:cNvSpPr/>
          <p:nvPr/>
        </p:nvSpPr>
        <p:spPr>
          <a:xfrm>
            <a:off x="7568446" y="5890736"/>
            <a:ext cx="549712" cy="549712"/>
          </a:xfrm>
          <a:prstGeom prst="roundRect">
            <a:avLst>
              <a:gd name="adj" fmla="val 16632501"/>
            </a:avLst>
          </a:prstGeom>
          <a:solidFill>
            <a:srgbClr val="8061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9536" y="6041827"/>
            <a:ext cx="247412" cy="2474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68446" y="6580703"/>
            <a:ext cx="2272070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IAM &amp; CloudWatch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7568446" y="6934319"/>
            <a:ext cx="5514499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Manages access control and monitors system performance and logs.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3D307F-1E7A-43FE-36D7-B3D3163EC131}"/>
              </a:ext>
            </a:extLst>
          </p:cNvPr>
          <p:cNvSpPr/>
          <p:nvPr/>
        </p:nvSpPr>
        <p:spPr>
          <a:xfrm>
            <a:off x="12835054" y="7761249"/>
            <a:ext cx="1717287" cy="390292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4431" y="422553"/>
            <a:ext cx="3080266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Working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64431" y="2797731"/>
            <a:ext cx="4091107" cy="48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From upload to answer, the system follows a clear, automated pipeline that ensures every paper is processed, stored, and made queryable with minimal latency.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483" y="995243"/>
            <a:ext cx="4091107" cy="40911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483" y="995243"/>
            <a:ext cx="4091107" cy="409110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484" y="5251311"/>
            <a:ext cx="196334" cy="19633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489722" y="5247323"/>
            <a:ext cx="1540073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Upload Paper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3489722" y="5482709"/>
            <a:ext cx="8076248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uploads document via the web UI.</a:t>
            </a:r>
            <a:endParaRPr lang="en-US" sz="1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484" y="5791855"/>
            <a:ext cx="196334" cy="19633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489722" y="5787866"/>
            <a:ext cx="1540073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Store in S3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3489722" y="6023253"/>
            <a:ext cx="8076248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File is saved to S3 bucket for durable storage.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484" y="6332399"/>
            <a:ext cx="196334" cy="19633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89722" y="6328410"/>
            <a:ext cx="1668423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Generate Summary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3489722" y="6563797"/>
            <a:ext cx="8076248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Backend processes text and creates a structured summary.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484" y="6872942"/>
            <a:ext cx="196334" cy="19633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489722" y="6868954"/>
            <a:ext cx="1540073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Store in RDS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3489722" y="7104340"/>
            <a:ext cx="8076248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Summary metadata is persisted in the database.</a:t>
            </a:r>
            <a:endParaRPr lang="en-US" sz="1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484" y="7413486"/>
            <a:ext cx="196334" cy="19633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489722" y="7409498"/>
            <a:ext cx="1540073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Retrieve &amp; Answer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3489722" y="7644884"/>
            <a:ext cx="8076248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Summary is displayed; user questions are answered in real time.</a:t>
            </a:r>
            <a:endParaRPr lang="en-US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EE7FBB-153E-5A6B-8462-79DD3180735B}"/>
              </a:ext>
            </a:extLst>
          </p:cNvPr>
          <p:cNvSpPr/>
          <p:nvPr/>
        </p:nvSpPr>
        <p:spPr>
          <a:xfrm>
            <a:off x="12835054" y="7761249"/>
            <a:ext cx="1717287" cy="390292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9262" y="604361"/>
            <a:ext cx="510432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Advantages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59262" y="1537097"/>
            <a:ext cx="7625477" cy="1539954"/>
          </a:xfrm>
          <a:prstGeom prst="roundRect">
            <a:avLst>
              <a:gd name="adj" fmla="val 2113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976193" y="1754029"/>
            <a:ext cx="255210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⏱</a:t>
            </a: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Saves Time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76193" y="2198608"/>
            <a:ext cx="7191613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Reduces hours of reading to minutes of review with auto-generated summaries.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9262" y="3273623"/>
            <a:ext cx="7625477" cy="1209199"/>
          </a:xfrm>
          <a:prstGeom prst="roundRect">
            <a:avLst>
              <a:gd name="adj" fmla="val 2691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976193" y="3490555"/>
            <a:ext cx="255210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🖥</a:t>
            </a: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Easy to Use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76193" y="3935135"/>
            <a:ext cx="719161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Intuitive interface requires no technical expertise from the end user.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9262" y="4679394"/>
            <a:ext cx="7625477" cy="1539954"/>
          </a:xfrm>
          <a:prstGeom prst="roundRect">
            <a:avLst>
              <a:gd name="adj" fmla="val 2113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976193" y="4896326"/>
            <a:ext cx="255210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☁</a:t>
            </a: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Scalable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76193" y="5340906"/>
            <a:ext cx="7191613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Cloud-based architecture handles growing numbers of users and documents.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9262" y="6415921"/>
            <a:ext cx="7625477" cy="1209199"/>
          </a:xfrm>
          <a:prstGeom prst="roundRect">
            <a:avLst>
              <a:gd name="adj" fmla="val 2691"/>
            </a:avLst>
          </a:prstGeom>
          <a:solidFill>
            <a:srgbClr val="2B2952"/>
          </a:solidFill>
          <a:ln/>
        </p:spPr>
      </p:sp>
      <p:sp>
        <p:nvSpPr>
          <p:cNvPr id="14" name="Text 11"/>
          <p:cNvSpPr/>
          <p:nvPr/>
        </p:nvSpPr>
        <p:spPr>
          <a:xfrm>
            <a:off x="976193" y="6632853"/>
            <a:ext cx="255210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🔒</a:t>
            </a: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Reliable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76193" y="7077432"/>
            <a:ext cx="719161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AWS S3 and RDS ensure data durability, security, and high availability.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65" y="734973"/>
            <a:ext cx="7148513" cy="626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 &amp; Future Work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46165" y="1836539"/>
            <a:ext cx="250817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We Built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46165" y="2339816"/>
            <a:ext cx="6309003" cy="128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project demonstrates a practical, cloud-powered solution that simplifies how medical research papers are consumed — making complex literature accessible, searchable, and understandable for everyone.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6165" y="3843099"/>
            <a:ext cx="6309003" cy="1165265"/>
          </a:xfrm>
          <a:prstGeom prst="roundRect">
            <a:avLst>
              <a:gd name="adj" fmla="val 2744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87" y="4151471"/>
            <a:ext cx="266462" cy="2131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8870" y="4086106"/>
            <a:ext cx="5403175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Successfully deployed on AWS with end-to-end summarization and Q&amp;A functionality.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82853" y="1836539"/>
            <a:ext cx="3079433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Future Enhancements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7582853" y="2363629"/>
            <a:ext cx="6309003" cy="1620083"/>
          </a:xfrm>
          <a:prstGeom prst="roundRect">
            <a:avLst>
              <a:gd name="adj" fmla="val 6773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59993" y="2363629"/>
            <a:ext cx="91440" cy="1620083"/>
          </a:xfrm>
          <a:prstGeom prst="roundRect">
            <a:avLst>
              <a:gd name="adj" fmla="val 34973"/>
            </a:avLst>
          </a:prstGeom>
          <a:solidFill>
            <a:srgbClr val="8061FF"/>
          </a:solidFill>
          <a:ln/>
        </p:spPr>
      </p:sp>
      <p:sp>
        <p:nvSpPr>
          <p:cNvPr id="11" name="Text 8"/>
          <p:cNvSpPr/>
          <p:nvPr/>
        </p:nvSpPr>
        <p:spPr>
          <a:xfrm>
            <a:off x="7887414" y="2599611"/>
            <a:ext cx="2836783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Advanced AI Models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887414" y="3102888"/>
            <a:ext cx="5768459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Integrate LLMs like GPT-4 for deeper, more accurate summarization.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582853" y="4173498"/>
            <a:ext cx="6309003" cy="1297662"/>
          </a:xfrm>
          <a:prstGeom prst="roundRect">
            <a:avLst>
              <a:gd name="adj" fmla="val 8456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59993" y="4173498"/>
            <a:ext cx="91440" cy="1297662"/>
          </a:xfrm>
          <a:prstGeom prst="roundRect">
            <a:avLst>
              <a:gd name="adj" fmla="val 34973"/>
            </a:avLst>
          </a:prstGeom>
          <a:solidFill>
            <a:srgbClr val="8061FF"/>
          </a:solidFill>
          <a:ln/>
        </p:spPr>
      </p:sp>
      <p:sp>
        <p:nvSpPr>
          <p:cNvPr id="15" name="Text 12"/>
          <p:cNvSpPr/>
          <p:nvPr/>
        </p:nvSpPr>
        <p:spPr>
          <a:xfrm>
            <a:off x="7887414" y="4409480"/>
            <a:ext cx="2836188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PDF Upload Support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7887414" y="4912757"/>
            <a:ext cx="576845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Add native PDF parsing for broader document compatibility.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7582853" y="5660946"/>
            <a:ext cx="6309003" cy="1620083"/>
          </a:xfrm>
          <a:prstGeom prst="roundRect">
            <a:avLst>
              <a:gd name="adj" fmla="val 6773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59993" y="5660946"/>
            <a:ext cx="91440" cy="1620083"/>
          </a:xfrm>
          <a:prstGeom prst="roundRect">
            <a:avLst>
              <a:gd name="adj" fmla="val 34973"/>
            </a:avLst>
          </a:prstGeom>
          <a:solidFill>
            <a:srgbClr val="8061FF"/>
          </a:solidFill>
          <a:ln/>
        </p:spPr>
      </p:sp>
      <p:sp>
        <p:nvSpPr>
          <p:cNvPr id="19" name="Text 16"/>
          <p:cNvSpPr/>
          <p:nvPr/>
        </p:nvSpPr>
        <p:spPr>
          <a:xfrm>
            <a:off x="7887414" y="5896928"/>
            <a:ext cx="264521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Enhanced Chatbot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7887414" y="6400205"/>
            <a:ext cx="5768459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Improve conversational Q&amp;A with multi-turn dialogue and citations.</a:t>
            </a:r>
            <a:endParaRPr lang="en-US" sz="16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1FA863-7534-D46D-28A0-FFF428387730}"/>
              </a:ext>
            </a:extLst>
          </p:cNvPr>
          <p:cNvSpPr/>
          <p:nvPr/>
        </p:nvSpPr>
        <p:spPr>
          <a:xfrm>
            <a:off x="12835054" y="7761249"/>
            <a:ext cx="1717287" cy="390292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Custom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Syne Light</vt:lpstr>
      <vt:lpstr>Arimo</vt:lpstr>
      <vt:lpstr>Syne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Srividya Sripathi</cp:lastModifiedBy>
  <cp:revision>2</cp:revision>
  <dcterms:created xsi:type="dcterms:W3CDTF">2026-05-04T03:41:16Z</dcterms:created>
  <dcterms:modified xsi:type="dcterms:W3CDTF">2026-05-04T04:58:20Z</dcterms:modified>
</cp:coreProperties>
</file>